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CA0799-CC0C-4859-B896-C7B98492C170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F6ACE5-8369-4508-8403-874FA7BA5C06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F8CB11-A2E0-4BCD-A05A-8DCC8F55EB10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4DBAE8-008D-44C0-9248-6EB210658A1A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A7DDA6-C6E8-4793-90B9-6C224280B372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A97215-4871-41DB-B9FF-7667AFED8B86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3E5D4B-1C62-4313-BB46-C89324E22057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5948C2-A8ED-4F0C-9A2E-4F195F11929A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D7FA5C-F4DA-4D4F-8E33-571D03BBBD62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43C63A-994D-48AD-93AA-43552843A663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F6F8A2-982E-4C1C-BF51-E896F6177B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015471-1EA6-48C0-825E-50B5F3848D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3E6D6B-4585-44CB-9029-1198FC007E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5D0D7F-5AF8-4E3A-9D81-AE06182322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7795778-9195-4D13-AACA-EADA7951D1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985492-12F3-4B97-88E9-91FB08A0BF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390857-467F-4086-912E-2F5C18BA33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CD8C18-3058-4662-982F-CC0A6AA398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EF411D7-5990-404F-8035-392254177B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FD36FF-E0B0-4AE9-91D4-9BAE7AF449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03FAD4-1BA9-4D74-ACC9-3AFEE60A92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1280160"/>
            <a:ext cx="731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PROYECTO PYTHON · DATA SCIENCE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822960" y="1757520"/>
            <a:ext cx="6399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24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Desafío: Hundir la Flota en consola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icture 2" descr="imagen"/>
          <p:cNvSpPr/>
          <p:nvPr/>
        </p:nvSpPr>
        <p:spPr>
          <a:xfrm>
            <a:off x="3154320" y="2553120"/>
            <a:ext cx="6228360" cy="3513600"/>
          </a:xfrm>
          <a:prstGeom prst="round2DiagRect">
            <a:avLst>
              <a:gd name="adj1" fmla="val 16667"/>
              <a:gd name="adj2" fmla="val 0"/>
            </a:avLst>
          </a:prstGeom>
          <a:blipFill rotWithShape="0">
            <a:blip r:embed="rId1"/>
            <a:srcRect/>
            <a:stretch/>
          </a:blipFill>
          <a:ln cap="sq" w="88900">
            <a:solidFill>
              <a:srgbClr val="FFFFFF"/>
            </a:solidFill>
            <a:miter/>
          </a:ln>
          <a:effectLst>
            <a:outerShdw algn="tl" blurRad="254160" rotWithShape="0">
              <a:srgbClr val="000000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01 · LA IDEA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Desafío Hundir la Flota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2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4"/>
          <p:cNvSpPr/>
          <p:nvPr/>
        </p:nvSpPr>
        <p:spPr>
          <a:xfrm>
            <a:off x="640080" y="1828800"/>
            <a:ext cx="3473640" cy="21934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640080" y="1828800"/>
            <a:ext cx="72000" cy="219348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91440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¿De que va el juego?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713160" y="2434320"/>
            <a:ext cx="34005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Es un juego para dos jugadores. Cada uno esconde su flota en un tablero y trata de adivinar dónde están los barcos del otro, disparando por turnos a una coordenada. Gana quien hunda toda la flota rival primero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8"/>
          <p:cNvSpPr/>
          <p:nvPr/>
        </p:nvSpPr>
        <p:spPr>
          <a:xfrm>
            <a:off x="4343400" y="1828800"/>
            <a:ext cx="3473640" cy="21934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4343400" y="1828800"/>
            <a:ext cx="72000" cy="219348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1772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Tablero 10 × 10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4617720" y="2514600"/>
            <a:ext cx="301644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Cada jugador tiene una cuadrícula (de 10 × 10), y allí ubica sus barcos. Estos tienen distintos tamaños, de una a cuatro casillas, y se colocan en horizontal o vertical sin pisarse.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2"/>
          <p:cNvSpPr/>
          <p:nvPr/>
        </p:nvSpPr>
        <p:spPr>
          <a:xfrm>
            <a:off x="8046720" y="1828800"/>
            <a:ext cx="3473640" cy="21934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3"/>
          <p:cNvSpPr/>
          <p:nvPr/>
        </p:nvSpPr>
        <p:spPr>
          <a:xfrm>
            <a:off x="8046720" y="1828800"/>
            <a:ext cx="72000" cy="219348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832104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Explosión en texto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321040" y="2514600"/>
            <a:ext cx="3016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Si acierto, aparece una explosión hecha con letras y repito turno.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02 · ORGANIZACIÓN Y ESTRUCTURA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640080" y="731520"/>
            <a:ext cx="10971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26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Dos archivos, sin clases ni funciones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3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40080" y="1252800"/>
            <a:ext cx="5302440" cy="9446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640080" y="1252800"/>
            <a:ext cx="72000" cy="9446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914400" y="1327680"/>
            <a:ext cx="484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variables.py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914400" y="1650600"/>
            <a:ext cx="4845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Los datos que no cambian: tamaño del tablero, letras, barcos y símbolos.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6217920" y="1252800"/>
            <a:ext cx="5302440" cy="9446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6217920" y="1252800"/>
            <a:ext cx="72000" cy="94464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6492240" y="1327680"/>
            <a:ext cx="484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main.py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6492240" y="1650600"/>
            <a:ext cx="4845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Todo el juego: colocar barcos, turnos, disparos, final e informe.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 rot="21594600">
            <a:off x="637920" y="2417040"/>
            <a:ext cx="6658920" cy="521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zxx" sz="26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Lógica y estructuras utilizadas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"/>
          <p:cNvSpPr/>
          <p:nvPr/>
        </p:nvSpPr>
        <p:spPr>
          <a:xfrm>
            <a:off x="637560" y="2880000"/>
            <a:ext cx="5302440" cy="39420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748080" y="3085920"/>
          <a:ext cx="5020200" cy="3629160"/>
        </p:xfrm>
        <a:graphic>
          <a:graphicData uri="http://schemas.openxmlformats.org/drawingml/2006/table">
            <a:tbl>
              <a:tblPr/>
              <a:tblGrid>
                <a:gridCol w="1642680"/>
                <a:gridCol w="1459440"/>
                <a:gridCol w="1918080"/>
              </a:tblGrid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Fase</a:t>
                      </a:r>
                      <a:endParaRPr lang="es-E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Estructuras utilizadas</a:t>
                      </a:r>
                      <a:endParaRPr lang="es-E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Objetivo</a:t>
                      </a:r>
                      <a:endParaRPr lang="es-E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Creación de tableros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 + for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Crear tablero y radar para cada jugador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Colocación de barcos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while, for, if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Ubicar barcos sin salirse ni superponerse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Inicio de partida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Variables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Controlar turno y estado del juego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Turno del jugador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input(), if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Leer y validar coordenadas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Turno de la máquina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Listas, tuplas, random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Seleccionar disparo aleatorio válido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Resolución del disparo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for, if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Detectar agua, tocado o hundido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Actualización de tableros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Listas, if/else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Reflejar resultados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Cambio de turno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if/else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Gestionar turnos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Estadísticas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Listas, contadores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Registrar resultados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Fin de partida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while, if/else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Determinar ganador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2A6099"/>
                      </a:solidFill>
                      <a:prstDash val="solid"/>
                    </a:lnL>
                    <a:lnR w="7200">
                      <a:solidFill>
                        <a:srgbClr val="2A6099"/>
                      </a:solidFill>
                      <a:prstDash val="solid"/>
                    </a:lnR>
                    <a:lnT w="7200">
                      <a:solidFill>
                        <a:srgbClr val="2A6099"/>
                      </a:solidFill>
                      <a:prstDash val="solid"/>
                    </a:lnT>
                    <a:lnB w="7200">
                      <a:solidFill>
                        <a:srgbClr val="2A60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" name="Rounded Rectangle 2"/>
          <p:cNvSpPr/>
          <p:nvPr/>
        </p:nvSpPr>
        <p:spPr>
          <a:xfrm>
            <a:off x="6217560" y="2880000"/>
            <a:ext cx="5302440" cy="39420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6480000" y="3086640"/>
          <a:ext cx="4806360" cy="3573360"/>
        </p:xfrm>
        <a:graphic>
          <a:graphicData uri="http://schemas.openxmlformats.org/drawingml/2006/table">
            <a:tbl>
              <a:tblPr/>
              <a:tblGrid>
                <a:gridCol w="2125800"/>
                <a:gridCol w="2680560"/>
              </a:tblGrid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Recurso</a:t>
                      </a:r>
                      <a:endParaRPr lang="es-E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Uso en el proyecto</a:t>
                      </a:r>
                      <a:endParaRPr lang="es-E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Tableros, radares y barcos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Listas de listas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Representación de tableros 10x10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Tuplas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Coordenadas temporales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Variables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Estado del juego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Recorrer tableros y barcos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while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Partida y colocación de barcos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if / elif / else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Validaciones y decisiones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input()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Entrada del jugador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print()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Salida por pantalla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append()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Agregar elementos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remove()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Eliminar partes impactadas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len()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Comprobar tamaños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enumerate()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Índice y elemento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3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random.randint()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Posiciones aleatorias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53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random.choice()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s-E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Disparos aleatorios</a:t>
                      </a:r>
                      <a:endParaRPr lang="es-E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03 · REGLAS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tablero y la flota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4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82296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117036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6"/>
          <p:cNvSpPr/>
          <p:nvPr/>
        </p:nvSpPr>
        <p:spPr>
          <a:xfrm>
            <a:off x="151776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186552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221292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9"/>
          <p:cNvSpPr/>
          <p:nvPr/>
        </p:nvSpPr>
        <p:spPr>
          <a:xfrm>
            <a:off x="256032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10"/>
          <p:cNvSpPr/>
          <p:nvPr/>
        </p:nvSpPr>
        <p:spPr>
          <a:xfrm>
            <a:off x="290772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1"/>
          <p:cNvSpPr/>
          <p:nvPr/>
        </p:nvSpPr>
        <p:spPr>
          <a:xfrm>
            <a:off x="325512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12"/>
          <p:cNvSpPr/>
          <p:nvPr/>
        </p:nvSpPr>
        <p:spPr>
          <a:xfrm>
            <a:off x="360288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3"/>
          <p:cNvSpPr/>
          <p:nvPr/>
        </p:nvSpPr>
        <p:spPr>
          <a:xfrm>
            <a:off x="3950280" y="16380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4"/>
          <p:cNvSpPr/>
          <p:nvPr/>
        </p:nvSpPr>
        <p:spPr>
          <a:xfrm>
            <a:off x="82296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5"/>
          <p:cNvSpPr/>
          <p:nvPr/>
        </p:nvSpPr>
        <p:spPr>
          <a:xfrm>
            <a:off x="1170360" y="198540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6"/>
          <p:cNvSpPr/>
          <p:nvPr/>
        </p:nvSpPr>
        <p:spPr>
          <a:xfrm>
            <a:off x="1517760" y="198540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7"/>
          <p:cNvSpPr/>
          <p:nvPr/>
        </p:nvSpPr>
        <p:spPr>
          <a:xfrm>
            <a:off x="1865520" y="198540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8"/>
          <p:cNvSpPr/>
          <p:nvPr/>
        </p:nvSpPr>
        <p:spPr>
          <a:xfrm>
            <a:off x="221292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9"/>
          <p:cNvSpPr/>
          <p:nvPr/>
        </p:nvSpPr>
        <p:spPr>
          <a:xfrm>
            <a:off x="256032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0"/>
          <p:cNvSpPr/>
          <p:nvPr/>
        </p:nvSpPr>
        <p:spPr>
          <a:xfrm>
            <a:off x="290772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1"/>
          <p:cNvSpPr/>
          <p:nvPr/>
        </p:nvSpPr>
        <p:spPr>
          <a:xfrm>
            <a:off x="325512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2"/>
          <p:cNvSpPr/>
          <p:nvPr/>
        </p:nvSpPr>
        <p:spPr>
          <a:xfrm>
            <a:off x="360288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3"/>
          <p:cNvSpPr/>
          <p:nvPr/>
        </p:nvSpPr>
        <p:spPr>
          <a:xfrm>
            <a:off x="3950280" y="19854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4"/>
          <p:cNvSpPr/>
          <p:nvPr/>
        </p:nvSpPr>
        <p:spPr>
          <a:xfrm>
            <a:off x="82296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5"/>
          <p:cNvSpPr/>
          <p:nvPr/>
        </p:nvSpPr>
        <p:spPr>
          <a:xfrm>
            <a:off x="117036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6"/>
          <p:cNvSpPr/>
          <p:nvPr/>
        </p:nvSpPr>
        <p:spPr>
          <a:xfrm>
            <a:off x="151776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27"/>
          <p:cNvSpPr/>
          <p:nvPr/>
        </p:nvSpPr>
        <p:spPr>
          <a:xfrm>
            <a:off x="186552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8"/>
          <p:cNvSpPr/>
          <p:nvPr/>
        </p:nvSpPr>
        <p:spPr>
          <a:xfrm>
            <a:off x="221292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29"/>
          <p:cNvSpPr/>
          <p:nvPr/>
        </p:nvSpPr>
        <p:spPr>
          <a:xfrm>
            <a:off x="256032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30"/>
          <p:cNvSpPr/>
          <p:nvPr/>
        </p:nvSpPr>
        <p:spPr>
          <a:xfrm>
            <a:off x="290772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31"/>
          <p:cNvSpPr/>
          <p:nvPr/>
        </p:nvSpPr>
        <p:spPr>
          <a:xfrm>
            <a:off x="325512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32"/>
          <p:cNvSpPr/>
          <p:nvPr/>
        </p:nvSpPr>
        <p:spPr>
          <a:xfrm>
            <a:off x="360288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33"/>
          <p:cNvSpPr/>
          <p:nvPr/>
        </p:nvSpPr>
        <p:spPr>
          <a:xfrm>
            <a:off x="3950280" y="23328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34"/>
          <p:cNvSpPr/>
          <p:nvPr/>
        </p:nvSpPr>
        <p:spPr>
          <a:xfrm>
            <a:off x="82296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35"/>
          <p:cNvSpPr/>
          <p:nvPr/>
        </p:nvSpPr>
        <p:spPr>
          <a:xfrm>
            <a:off x="117036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36"/>
          <p:cNvSpPr/>
          <p:nvPr/>
        </p:nvSpPr>
        <p:spPr>
          <a:xfrm>
            <a:off x="151776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37"/>
          <p:cNvSpPr/>
          <p:nvPr/>
        </p:nvSpPr>
        <p:spPr>
          <a:xfrm>
            <a:off x="186552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38"/>
          <p:cNvSpPr/>
          <p:nvPr/>
        </p:nvSpPr>
        <p:spPr>
          <a:xfrm>
            <a:off x="221292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39"/>
          <p:cNvSpPr/>
          <p:nvPr/>
        </p:nvSpPr>
        <p:spPr>
          <a:xfrm>
            <a:off x="256032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40"/>
          <p:cNvSpPr/>
          <p:nvPr/>
        </p:nvSpPr>
        <p:spPr>
          <a:xfrm>
            <a:off x="290772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41"/>
          <p:cNvSpPr/>
          <p:nvPr/>
        </p:nvSpPr>
        <p:spPr>
          <a:xfrm>
            <a:off x="325512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42"/>
          <p:cNvSpPr/>
          <p:nvPr/>
        </p:nvSpPr>
        <p:spPr>
          <a:xfrm>
            <a:off x="3602880" y="268020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43"/>
          <p:cNvSpPr/>
          <p:nvPr/>
        </p:nvSpPr>
        <p:spPr>
          <a:xfrm>
            <a:off x="3950280" y="26802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44"/>
          <p:cNvSpPr/>
          <p:nvPr/>
        </p:nvSpPr>
        <p:spPr>
          <a:xfrm>
            <a:off x="82296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45"/>
          <p:cNvSpPr/>
          <p:nvPr/>
        </p:nvSpPr>
        <p:spPr>
          <a:xfrm>
            <a:off x="117036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46"/>
          <p:cNvSpPr/>
          <p:nvPr/>
        </p:nvSpPr>
        <p:spPr>
          <a:xfrm>
            <a:off x="151776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47"/>
          <p:cNvSpPr/>
          <p:nvPr/>
        </p:nvSpPr>
        <p:spPr>
          <a:xfrm>
            <a:off x="186552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48"/>
          <p:cNvSpPr/>
          <p:nvPr/>
        </p:nvSpPr>
        <p:spPr>
          <a:xfrm>
            <a:off x="221292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49"/>
          <p:cNvSpPr/>
          <p:nvPr/>
        </p:nvSpPr>
        <p:spPr>
          <a:xfrm>
            <a:off x="256032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50"/>
          <p:cNvSpPr/>
          <p:nvPr/>
        </p:nvSpPr>
        <p:spPr>
          <a:xfrm>
            <a:off x="290772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51"/>
          <p:cNvSpPr/>
          <p:nvPr/>
        </p:nvSpPr>
        <p:spPr>
          <a:xfrm>
            <a:off x="325512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52"/>
          <p:cNvSpPr/>
          <p:nvPr/>
        </p:nvSpPr>
        <p:spPr>
          <a:xfrm>
            <a:off x="3602880" y="302760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53"/>
          <p:cNvSpPr/>
          <p:nvPr/>
        </p:nvSpPr>
        <p:spPr>
          <a:xfrm>
            <a:off x="3950280" y="302760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54"/>
          <p:cNvSpPr/>
          <p:nvPr/>
        </p:nvSpPr>
        <p:spPr>
          <a:xfrm>
            <a:off x="82296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55"/>
          <p:cNvSpPr/>
          <p:nvPr/>
        </p:nvSpPr>
        <p:spPr>
          <a:xfrm>
            <a:off x="117036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56"/>
          <p:cNvSpPr/>
          <p:nvPr/>
        </p:nvSpPr>
        <p:spPr>
          <a:xfrm>
            <a:off x="151776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57"/>
          <p:cNvSpPr/>
          <p:nvPr/>
        </p:nvSpPr>
        <p:spPr>
          <a:xfrm>
            <a:off x="186552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58"/>
          <p:cNvSpPr/>
          <p:nvPr/>
        </p:nvSpPr>
        <p:spPr>
          <a:xfrm>
            <a:off x="221292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59"/>
          <p:cNvSpPr/>
          <p:nvPr/>
        </p:nvSpPr>
        <p:spPr>
          <a:xfrm>
            <a:off x="256032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60"/>
          <p:cNvSpPr/>
          <p:nvPr/>
        </p:nvSpPr>
        <p:spPr>
          <a:xfrm>
            <a:off x="2907720" y="337536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61"/>
          <p:cNvSpPr/>
          <p:nvPr/>
        </p:nvSpPr>
        <p:spPr>
          <a:xfrm>
            <a:off x="325512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62"/>
          <p:cNvSpPr/>
          <p:nvPr/>
        </p:nvSpPr>
        <p:spPr>
          <a:xfrm>
            <a:off x="360288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63"/>
          <p:cNvSpPr/>
          <p:nvPr/>
        </p:nvSpPr>
        <p:spPr>
          <a:xfrm>
            <a:off x="3950280" y="33753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64"/>
          <p:cNvSpPr/>
          <p:nvPr/>
        </p:nvSpPr>
        <p:spPr>
          <a:xfrm>
            <a:off x="82296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65"/>
          <p:cNvSpPr/>
          <p:nvPr/>
        </p:nvSpPr>
        <p:spPr>
          <a:xfrm>
            <a:off x="117036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66"/>
          <p:cNvSpPr/>
          <p:nvPr/>
        </p:nvSpPr>
        <p:spPr>
          <a:xfrm>
            <a:off x="151776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67"/>
          <p:cNvSpPr/>
          <p:nvPr/>
        </p:nvSpPr>
        <p:spPr>
          <a:xfrm>
            <a:off x="186552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68"/>
          <p:cNvSpPr/>
          <p:nvPr/>
        </p:nvSpPr>
        <p:spPr>
          <a:xfrm>
            <a:off x="221292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69"/>
          <p:cNvSpPr/>
          <p:nvPr/>
        </p:nvSpPr>
        <p:spPr>
          <a:xfrm>
            <a:off x="256032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70"/>
          <p:cNvSpPr/>
          <p:nvPr/>
        </p:nvSpPr>
        <p:spPr>
          <a:xfrm>
            <a:off x="2907720" y="372276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71"/>
          <p:cNvSpPr/>
          <p:nvPr/>
        </p:nvSpPr>
        <p:spPr>
          <a:xfrm>
            <a:off x="325512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72"/>
          <p:cNvSpPr/>
          <p:nvPr/>
        </p:nvSpPr>
        <p:spPr>
          <a:xfrm>
            <a:off x="360288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73"/>
          <p:cNvSpPr/>
          <p:nvPr/>
        </p:nvSpPr>
        <p:spPr>
          <a:xfrm>
            <a:off x="3950280" y="37227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74"/>
          <p:cNvSpPr/>
          <p:nvPr/>
        </p:nvSpPr>
        <p:spPr>
          <a:xfrm>
            <a:off x="82296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75"/>
          <p:cNvSpPr/>
          <p:nvPr/>
        </p:nvSpPr>
        <p:spPr>
          <a:xfrm>
            <a:off x="117036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76"/>
          <p:cNvSpPr/>
          <p:nvPr/>
        </p:nvSpPr>
        <p:spPr>
          <a:xfrm>
            <a:off x="151776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77"/>
          <p:cNvSpPr/>
          <p:nvPr/>
        </p:nvSpPr>
        <p:spPr>
          <a:xfrm>
            <a:off x="186552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78"/>
          <p:cNvSpPr/>
          <p:nvPr/>
        </p:nvSpPr>
        <p:spPr>
          <a:xfrm>
            <a:off x="221292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79"/>
          <p:cNvSpPr/>
          <p:nvPr/>
        </p:nvSpPr>
        <p:spPr>
          <a:xfrm>
            <a:off x="256032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80"/>
          <p:cNvSpPr/>
          <p:nvPr/>
        </p:nvSpPr>
        <p:spPr>
          <a:xfrm>
            <a:off x="290772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81"/>
          <p:cNvSpPr/>
          <p:nvPr/>
        </p:nvSpPr>
        <p:spPr>
          <a:xfrm>
            <a:off x="325512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82"/>
          <p:cNvSpPr/>
          <p:nvPr/>
        </p:nvSpPr>
        <p:spPr>
          <a:xfrm>
            <a:off x="360288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83"/>
          <p:cNvSpPr/>
          <p:nvPr/>
        </p:nvSpPr>
        <p:spPr>
          <a:xfrm>
            <a:off x="3950280" y="40701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84"/>
          <p:cNvSpPr/>
          <p:nvPr/>
        </p:nvSpPr>
        <p:spPr>
          <a:xfrm>
            <a:off x="82296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85"/>
          <p:cNvSpPr/>
          <p:nvPr/>
        </p:nvSpPr>
        <p:spPr>
          <a:xfrm>
            <a:off x="117036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86"/>
          <p:cNvSpPr/>
          <p:nvPr/>
        </p:nvSpPr>
        <p:spPr>
          <a:xfrm>
            <a:off x="1517760" y="441756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87"/>
          <p:cNvSpPr/>
          <p:nvPr/>
        </p:nvSpPr>
        <p:spPr>
          <a:xfrm>
            <a:off x="1865520" y="441756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88"/>
          <p:cNvSpPr/>
          <p:nvPr/>
        </p:nvSpPr>
        <p:spPr>
          <a:xfrm>
            <a:off x="2212920" y="4417560"/>
            <a:ext cx="309960" cy="309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89"/>
          <p:cNvSpPr/>
          <p:nvPr/>
        </p:nvSpPr>
        <p:spPr>
          <a:xfrm>
            <a:off x="256032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90"/>
          <p:cNvSpPr/>
          <p:nvPr/>
        </p:nvSpPr>
        <p:spPr>
          <a:xfrm>
            <a:off x="290772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91"/>
          <p:cNvSpPr/>
          <p:nvPr/>
        </p:nvSpPr>
        <p:spPr>
          <a:xfrm>
            <a:off x="325512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92"/>
          <p:cNvSpPr/>
          <p:nvPr/>
        </p:nvSpPr>
        <p:spPr>
          <a:xfrm>
            <a:off x="360288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93"/>
          <p:cNvSpPr/>
          <p:nvPr/>
        </p:nvSpPr>
        <p:spPr>
          <a:xfrm>
            <a:off x="3950280" y="44175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94"/>
          <p:cNvSpPr/>
          <p:nvPr/>
        </p:nvSpPr>
        <p:spPr>
          <a:xfrm>
            <a:off x="82296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95"/>
          <p:cNvSpPr/>
          <p:nvPr/>
        </p:nvSpPr>
        <p:spPr>
          <a:xfrm>
            <a:off x="117036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96"/>
          <p:cNvSpPr/>
          <p:nvPr/>
        </p:nvSpPr>
        <p:spPr>
          <a:xfrm>
            <a:off x="151776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97"/>
          <p:cNvSpPr/>
          <p:nvPr/>
        </p:nvSpPr>
        <p:spPr>
          <a:xfrm>
            <a:off x="186552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98"/>
          <p:cNvSpPr/>
          <p:nvPr/>
        </p:nvSpPr>
        <p:spPr>
          <a:xfrm>
            <a:off x="221292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99"/>
          <p:cNvSpPr/>
          <p:nvPr/>
        </p:nvSpPr>
        <p:spPr>
          <a:xfrm>
            <a:off x="256032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100"/>
          <p:cNvSpPr/>
          <p:nvPr/>
        </p:nvSpPr>
        <p:spPr>
          <a:xfrm>
            <a:off x="290772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101"/>
          <p:cNvSpPr/>
          <p:nvPr/>
        </p:nvSpPr>
        <p:spPr>
          <a:xfrm>
            <a:off x="325512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102"/>
          <p:cNvSpPr/>
          <p:nvPr/>
        </p:nvSpPr>
        <p:spPr>
          <a:xfrm>
            <a:off x="360288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03"/>
          <p:cNvSpPr/>
          <p:nvPr/>
        </p:nvSpPr>
        <p:spPr>
          <a:xfrm>
            <a:off x="3950280" y="4764960"/>
            <a:ext cx="309960" cy="30996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04"/>
          <p:cNvSpPr/>
          <p:nvPr/>
        </p:nvSpPr>
        <p:spPr>
          <a:xfrm>
            <a:off x="822960" y="5158440"/>
            <a:ext cx="3656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1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Filas A–J, columnas 1–10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05"/>
          <p:cNvSpPr/>
          <p:nvPr/>
        </p:nvSpPr>
        <p:spPr>
          <a:xfrm>
            <a:off x="5303520" y="1638000"/>
            <a:ext cx="3016440" cy="44319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106"/>
          <p:cNvSpPr/>
          <p:nvPr/>
        </p:nvSpPr>
        <p:spPr>
          <a:xfrm>
            <a:off x="5303520" y="1638000"/>
            <a:ext cx="72000" cy="4431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7"/>
          <p:cNvSpPr/>
          <p:nvPr/>
        </p:nvSpPr>
        <p:spPr>
          <a:xfrm>
            <a:off x="5577840" y="1820880"/>
            <a:ext cx="2559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Flota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08"/>
          <p:cNvSpPr/>
          <p:nvPr/>
        </p:nvSpPr>
        <p:spPr>
          <a:xfrm>
            <a:off x="5577840" y="2323800"/>
            <a:ext cx="2559240" cy="16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4 lanchas × 1 casilla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3 patrulleras × 2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2 fragatas × 3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1 buque faro × 4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br>
              <a:rPr sz="1500"/>
            </a:b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Total: 10 barcos, 20 casillas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09"/>
          <p:cNvSpPr/>
          <p:nvPr/>
        </p:nvSpPr>
        <p:spPr>
          <a:xfrm>
            <a:off x="8595360" y="1638000"/>
            <a:ext cx="3016440" cy="35193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110"/>
          <p:cNvSpPr/>
          <p:nvPr/>
        </p:nvSpPr>
        <p:spPr>
          <a:xfrm>
            <a:off x="8595360" y="1638000"/>
            <a:ext cx="72000" cy="351936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11"/>
          <p:cNvSpPr/>
          <p:nvPr/>
        </p:nvSpPr>
        <p:spPr>
          <a:xfrm>
            <a:off x="8869680" y="1820880"/>
            <a:ext cx="2559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Reglas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12"/>
          <p:cNvSpPr/>
          <p:nvPr/>
        </p:nvSpPr>
        <p:spPr>
          <a:xfrm>
            <a:off x="8869680" y="2323800"/>
            <a:ext cx="25592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se salen del tablero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se pisan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repito un disparo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Picture 2"/>
          <p:cNvSpPr/>
          <p:nvPr/>
        </p:nvSpPr>
        <p:spPr>
          <a:xfrm>
            <a:off x="5426640" y="4090320"/>
            <a:ext cx="2801520" cy="10652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113 CuadroTexto"/>
          <p:cNvSpPr/>
          <p:nvPr/>
        </p:nvSpPr>
        <p:spPr>
          <a:xfrm>
            <a:off x="5597280" y="5490000"/>
            <a:ext cx="25398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xx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El ciclo de vida de un barco es una lista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115 Flecha derecha"/>
          <p:cNvSpPr/>
          <p:nvPr/>
        </p:nvSpPr>
        <p:spPr>
          <a:xfrm rot="5400000">
            <a:off x="6661440" y="5259600"/>
            <a:ext cx="302400" cy="25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04 · LÓGICA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Cómo es un turno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5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4"/>
          <p:cNvSpPr/>
          <p:nvPr/>
        </p:nvSpPr>
        <p:spPr>
          <a:xfrm>
            <a:off x="640080" y="1456920"/>
            <a:ext cx="2604960" cy="21020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640080" y="1456920"/>
            <a:ext cx="72000" cy="21020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914400" y="163980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1 · Escribo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914400" y="2142720"/>
            <a:ext cx="2147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Una coordenada, por ejemplo B7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8"/>
          <p:cNvSpPr/>
          <p:nvPr/>
        </p:nvSpPr>
        <p:spPr>
          <a:xfrm>
            <a:off x="3474720" y="1456920"/>
            <a:ext cx="2604960" cy="21020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9"/>
          <p:cNvSpPr/>
          <p:nvPr/>
        </p:nvSpPr>
        <p:spPr>
          <a:xfrm>
            <a:off x="3474720" y="1456920"/>
            <a:ext cx="72000" cy="21020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3749040" y="163980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2 · Reviso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1"/>
          <p:cNvSpPr/>
          <p:nvPr/>
        </p:nvSpPr>
        <p:spPr>
          <a:xfrm>
            <a:off x="3749040" y="2142720"/>
            <a:ext cx="2147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Letra, número, dentro del tablero y no repetida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2"/>
          <p:cNvSpPr/>
          <p:nvPr/>
        </p:nvSpPr>
        <p:spPr>
          <a:xfrm>
            <a:off x="6309360" y="1456920"/>
            <a:ext cx="2604960" cy="21020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13"/>
          <p:cNvSpPr/>
          <p:nvPr/>
        </p:nvSpPr>
        <p:spPr>
          <a:xfrm>
            <a:off x="6309360" y="1456920"/>
            <a:ext cx="72000" cy="21020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4"/>
          <p:cNvSpPr/>
          <p:nvPr/>
        </p:nvSpPr>
        <p:spPr>
          <a:xfrm>
            <a:off x="6583680" y="163980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3 · Resuelvo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5"/>
          <p:cNvSpPr/>
          <p:nvPr/>
        </p:nvSpPr>
        <p:spPr>
          <a:xfrm>
            <a:off x="6583680" y="2142720"/>
            <a:ext cx="2147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Agua, tocado o hundido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6"/>
          <p:cNvSpPr/>
          <p:nvPr/>
        </p:nvSpPr>
        <p:spPr>
          <a:xfrm>
            <a:off x="9144000" y="1456920"/>
            <a:ext cx="2604960" cy="21020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17"/>
          <p:cNvSpPr/>
          <p:nvPr/>
        </p:nvSpPr>
        <p:spPr>
          <a:xfrm>
            <a:off x="9144000" y="1456920"/>
            <a:ext cx="72000" cy="210204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8"/>
          <p:cNvSpPr/>
          <p:nvPr/>
        </p:nvSpPr>
        <p:spPr>
          <a:xfrm>
            <a:off x="9418320" y="163980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4 · Cambio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9"/>
          <p:cNvSpPr/>
          <p:nvPr/>
        </p:nvSpPr>
        <p:spPr>
          <a:xfrm>
            <a:off x="9418320" y="2142720"/>
            <a:ext cx="2147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Agua: cambia el turno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0"/>
          <p:cNvSpPr/>
          <p:nvPr/>
        </p:nvSpPr>
        <p:spPr>
          <a:xfrm>
            <a:off x="640080" y="3714840"/>
            <a:ext cx="1097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8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ACIERTO → mantengo el turno        FALLO → pasa a la máquina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1"/>
          <p:cNvSpPr/>
          <p:nvPr/>
        </p:nvSpPr>
        <p:spPr>
          <a:xfrm>
            <a:off x="640080" y="4084200"/>
            <a:ext cx="640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6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La máquina hace lo mismo, pero elige la casilla al azar, sin repetir ninguna.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Picture 2"/>
          <p:cNvSpPr/>
          <p:nvPr/>
        </p:nvSpPr>
        <p:spPr>
          <a:xfrm>
            <a:off x="7021080" y="3780000"/>
            <a:ext cx="3958920" cy="26168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23 Imagen"/>
          <p:cNvPicPr/>
          <p:nvPr/>
        </p:nvPicPr>
        <p:blipFill>
          <a:blip r:embed="rId2"/>
          <a:stretch/>
        </p:blipFill>
        <p:spPr>
          <a:xfrm>
            <a:off x="5164200" y="4637160"/>
            <a:ext cx="3164760" cy="237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Box 20"/>
          <p:cNvSpPr/>
          <p:nvPr/>
        </p:nvSpPr>
        <p:spPr>
          <a:xfrm>
            <a:off x="6816600" y="6355080"/>
            <a:ext cx="453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8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Un ciclo continuo de Validación y Resolución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05 · DEMOSTRACIÓN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Demo en vivo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6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4"/>
          <p:cNvSpPr/>
          <p:nvPr/>
        </p:nvSpPr>
        <p:spPr>
          <a:xfrm>
            <a:off x="720000" y="1404000"/>
            <a:ext cx="6279840" cy="15940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5"/>
          <p:cNvSpPr/>
          <p:nvPr/>
        </p:nvSpPr>
        <p:spPr>
          <a:xfrm>
            <a:off x="720000" y="1404000"/>
            <a:ext cx="130680" cy="159408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1215360" y="1536840"/>
            <a:ext cx="54547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1 · Agua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1215360" y="1902600"/>
            <a:ext cx="5454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 a una casilla vacía. Cambia el turno.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8"/>
          <p:cNvSpPr/>
          <p:nvPr/>
        </p:nvSpPr>
        <p:spPr>
          <a:xfrm>
            <a:off x="720000" y="3083400"/>
            <a:ext cx="6279840" cy="15940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9"/>
          <p:cNvSpPr/>
          <p:nvPr/>
        </p:nvSpPr>
        <p:spPr>
          <a:xfrm>
            <a:off x="720000" y="3083400"/>
            <a:ext cx="130680" cy="159408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1215360" y="3216600"/>
            <a:ext cx="54547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2 · Impacto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1215360" y="3582000"/>
            <a:ext cx="5454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 a un barco. Aparece la explosión y repito.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2"/>
          <p:cNvSpPr/>
          <p:nvPr/>
        </p:nvSpPr>
        <p:spPr>
          <a:xfrm>
            <a:off x="720000" y="4756320"/>
            <a:ext cx="6279840" cy="15940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13"/>
          <p:cNvSpPr/>
          <p:nvPr/>
        </p:nvSpPr>
        <p:spPr>
          <a:xfrm>
            <a:off x="720000" y="4756320"/>
            <a:ext cx="130320" cy="159408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4"/>
          <p:cNvSpPr/>
          <p:nvPr/>
        </p:nvSpPr>
        <p:spPr>
          <a:xfrm>
            <a:off x="1215720" y="4889520"/>
            <a:ext cx="5454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3 · Error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1215720" y="5254920"/>
            <a:ext cx="5454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Escribo mal la coordenada. El programa avisa y sigue.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"/>
          <p:cNvPicPr/>
          <p:nvPr/>
        </p:nvPicPr>
        <p:blipFill>
          <a:blip r:embed="rId1"/>
          <a:stretch/>
        </p:blipFill>
        <p:spPr>
          <a:xfrm>
            <a:off x="7536240" y="576720"/>
            <a:ext cx="3865680" cy="61552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06 ·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informe de la partida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7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4"/>
          <p:cNvSpPr/>
          <p:nvPr/>
        </p:nvSpPr>
        <p:spPr>
          <a:xfrm>
            <a:off x="640080" y="1432800"/>
            <a:ext cx="2604960" cy="19191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5"/>
          <p:cNvSpPr/>
          <p:nvPr/>
        </p:nvSpPr>
        <p:spPr>
          <a:xfrm>
            <a:off x="640080" y="1432800"/>
            <a:ext cx="72000" cy="19191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6"/>
          <p:cNvSpPr/>
          <p:nvPr/>
        </p:nvSpPr>
        <p:spPr>
          <a:xfrm>
            <a:off x="914400" y="161568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DISPAROS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914400" y="2118600"/>
            <a:ext cx="2147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Total de intentos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8"/>
          <p:cNvSpPr/>
          <p:nvPr/>
        </p:nvSpPr>
        <p:spPr>
          <a:xfrm>
            <a:off x="3474720" y="1432800"/>
            <a:ext cx="2604960" cy="19191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9"/>
          <p:cNvSpPr/>
          <p:nvPr/>
        </p:nvSpPr>
        <p:spPr>
          <a:xfrm>
            <a:off x="3474720" y="1432800"/>
            <a:ext cx="72000" cy="191916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3749040" y="161568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PRECISIÓN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3749040" y="2118600"/>
            <a:ext cx="2147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(Impactos ÷ disparos) × 100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12"/>
          <p:cNvSpPr/>
          <p:nvPr/>
        </p:nvSpPr>
        <p:spPr>
          <a:xfrm>
            <a:off x="6309360" y="1432800"/>
            <a:ext cx="2604960" cy="19191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13"/>
          <p:cNvSpPr/>
          <p:nvPr/>
        </p:nvSpPr>
        <p:spPr>
          <a:xfrm>
            <a:off x="6309360" y="1432800"/>
            <a:ext cx="72000" cy="19191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6583680" y="161568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AGUA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6583680" y="2118600"/>
            <a:ext cx="2147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Disparos que no dieron en nada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16"/>
          <p:cNvSpPr/>
          <p:nvPr/>
        </p:nvSpPr>
        <p:spPr>
          <a:xfrm>
            <a:off x="9144000" y="1432800"/>
            <a:ext cx="2604960" cy="19191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17"/>
          <p:cNvSpPr/>
          <p:nvPr/>
        </p:nvSpPr>
        <p:spPr>
          <a:xfrm>
            <a:off x="9144000" y="1432800"/>
            <a:ext cx="72000" cy="191916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9418320" y="1615680"/>
            <a:ext cx="2147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POR FILA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9"/>
          <p:cNvSpPr/>
          <p:nvPr/>
        </p:nvSpPr>
        <p:spPr>
          <a:xfrm>
            <a:off x="9418320" y="2118600"/>
            <a:ext cx="2147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Barras de impactos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20"/>
          <p:cNvSpPr/>
          <p:nvPr/>
        </p:nvSpPr>
        <p:spPr>
          <a:xfrm>
            <a:off x="640080" y="3600000"/>
            <a:ext cx="11059200" cy="28796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1"/>
          <p:cNvSpPr/>
          <p:nvPr/>
        </p:nvSpPr>
        <p:spPr>
          <a:xfrm>
            <a:off x="2520000" y="4297680"/>
            <a:ext cx="8817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¿Qué puedo concluir con estos datos?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2"/>
          <p:cNvSpPr/>
          <p:nvPr/>
        </p:nvSpPr>
        <p:spPr>
          <a:xfrm>
            <a:off x="1800000" y="4759200"/>
            <a:ext cx="52048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Puedo describir esta partida. Con una sola no se puede decir de manera concluyente que una fila sea más segura. Para eso haría falta comparar muchas partidas.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"/>
          <p:cNvPicPr/>
          <p:nvPr/>
        </p:nvPicPr>
        <p:blipFill>
          <a:blip r:embed="rId1"/>
          <a:stretch/>
        </p:blipFill>
        <p:spPr>
          <a:xfrm>
            <a:off x="7740000" y="3636000"/>
            <a:ext cx="2880000" cy="27784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07 · LO QUE VIENE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 que NO hace ahora, y lo que SI podría hacer en un futuro … 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8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4"/>
          <p:cNvSpPr/>
          <p:nvPr/>
        </p:nvSpPr>
        <p:spPr>
          <a:xfrm>
            <a:off x="640080" y="1828800"/>
            <a:ext cx="3473640" cy="27262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ectangle 5"/>
          <p:cNvSpPr/>
          <p:nvPr/>
        </p:nvSpPr>
        <p:spPr>
          <a:xfrm>
            <a:off x="640080" y="1828800"/>
            <a:ext cx="72000" cy="272628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91440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Autohundimiento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914400" y="2514600"/>
            <a:ext cx="3016440" cy="20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Idea opcional a futuro. Por complejidad y tiempo no lo hice.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autohundimiento se plantea como “sacrificio táctico”. Por ej.: Si un jugador tiene dos barcos pegados puede sacrificar uno para evitar que el rival alcance o descubra el otro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8"/>
          <p:cNvSpPr/>
          <p:nvPr/>
        </p:nvSpPr>
        <p:spPr>
          <a:xfrm>
            <a:off x="4343400" y="1828800"/>
            <a:ext cx="3473640" cy="33850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9"/>
          <p:cNvSpPr/>
          <p:nvPr/>
        </p:nvSpPr>
        <p:spPr>
          <a:xfrm>
            <a:off x="4343400" y="1828800"/>
            <a:ext cx="72000" cy="338508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0"/>
          <p:cNvSpPr/>
          <p:nvPr/>
        </p:nvSpPr>
        <p:spPr>
          <a:xfrm>
            <a:off x="461772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La máquina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1"/>
          <p:cNvSpPr/>
          <p:nvPr/>
        </p:nvSpPr>
        <p:spPr>
          <a:xfrm>
            <a:off x="4617720" y="2514600"/>
            <a:ext cx="3016440" cy="24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Dispara al azar. No persigue barcos después de acertar. Podria 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aprovechar los impactos con estrategia, diferentes modos de ataque (</a:t>
            </a:r>
            <a:r>
              <a:rPr lang="zxx" sz="16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búsqueda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: disparar al azar como ahora, </a:t>
            </a:r>
            <a:r>
              <a:rPr lang="zxx" sz="16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caza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: un impacto y busca las casillas vecinas, orientación: si 2 impactos quedan alineados continua atacando en esa línea).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2"/>
          <p:cNvSpPr/>
          <p:nvPr/>
        </p:nvSpPr>
        <p:spPr>
          <a:xfrm>
            <a:off x="8046720" y="1828800"/>
            <a:ext cx="3473640" cy="23763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13"/>
          <p:cNvSpPr/>
          <p:nvPr/>
        </p:nvSpPr>
        <p:spPr>
          <a:xfrm>
            <a:off x="8046720" y="1828800"/>
            <a:ext cx="72000" cy="23763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4"/>
          <p:cNvSpPr/>
          <p:nvPr/>
        </p:nvSpPr>
        <p:spPr>
          <a:xfrm>
            <a:off x="8321040" y="2011680"/>
            <a:ext cx="301644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Se puede reestructurar y mejorar el código para que sea más fácil de entender, de mantener y de ampliar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5"/>
          <p:cNvSpPr/>
          <p:nvPr/>
        </p:nvSpPr>
        <p:spPr>
          <a:xfrm>
            <a:off x="8321040" y="3258000"/>
            <a:ext cx="3016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Con funciones, métodos y clases.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1"/>
          <p:cNvSpPr/>
          <p:nvPr/>
        </p:nvSpPr>
        <p:spPr>
          <a:xfrm>
            <a:off x="640080" y="41148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08 · CIERRE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640080" y="7315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 difícil y lo que aprendí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11155680" y="6355080"/>
            <a:ext cx="730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9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4"/>
          <p:cNvSpPr/>
          <p:nvPr/>
        </p:nvSpPr>
        <p:spPr>
          <a:xfrm>
            <a:off x="640080" y="1828800"/>
            <a:ext cx="3473640" cy="48312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5"/>
          <p:cNvSpPr/>
          <p:nvPr/>
        </p:nvSpPr>
        <p:spPr>
          <a:xfrm>
            <a:off x="640080" y="1828800"/>
            <a:ext cx="72000" cy="483120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914400" y="2011680"/>
            <a:ext cx="32256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Lo difícil, los problemas de ahora y en el futuro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792000" y="2592000"/>
            <a:ext cx="3240000" cy="40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Que los barcos no se salieran ni se pisaran, y que no repitiera disparos.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Código poco modular y difícil de mantener.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Dependencia excesiva de variables globales.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Pérdida de información al destruir barcos.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IA demasiado simple.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Código duplicado en algunas partes.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Lógica y visualización mezcladas.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Escalabilidad limitada a 2 jugadores.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Sin persistencia de partidas.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EEF3F7"/>
              </a:buClr>
              <a:buSzPct val="45000"/>
              <a:buFont typeface="Wingdings" charset="2"/>
              <a:buChar char=""/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Posibles problemas de rendimiento en tableros grandes.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8"/>
          <p:cNvSpPr/>
          <p:nvPr/>
        </p:nvSpPr>
        <p:spPr>
          <a:xfrm>
            <a:off x="4343400" y="1828800"/>
            <a:ext cx="3473640" cy="47995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9"/>
          <p:cNvSpPr/>
          <p:nvPr/>
        </p:nvSpPr>
        <p:spPr>
          <a:xfrm>
            <a:off x="4343400" y="1828800"/>
            <a:ext cx="44640" cy="47995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4617720" y="2011680"/>
            <a:ext cx="3016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Lo que aprendí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4581720" y="2370600"/>
            <a:ext cx="3118320" cy="42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3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Separar el código en archivos para que el código del programa sea mas sencillo de entender y gestionar. 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br>
              <a:rPr sz="1200"/>
            </a:br>
            <a:r>
              <a:rPr lang="zxx" sz="12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Validar entradas:</a:t>
            </a:r>
            <a:r>
              <a:rPr lang="zxx" sz="12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si escribo “Z9” o solo “B”, el juego no se cae; me avisa que la coordenada no sirve y me vuelve a pedir una. </a:t>
            </a:r>
            <a:br>
              <a:rPr sz="1200"/>
            </a:br>
            <a:br>
              <a:rPr sz="1200"/>
            </a:br>
            <a:r>
              <a:rPr lang="zxx" sz="12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Dividir el problema:</a:t>
            </a:r>
            <a:r>
              <a:rPr lang="zxx" sz="12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primero armo el tablero vacío, después coloco los barcos y al final me ocupo de los turnos, en lugar de intentar escribir todo a la vez.</a:t>
            </a:r>
            <a:br>
              <a:rPr sz="1200"/>
            </a:br>
            <a:br>
              <a:rPr sz="1200"/>
            </a:br>
            <a:r>
              <a:rPr lang="zxx" sz="12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Sacar conclusiones con cuidado:</a:t>
            </a:r>
            <a:r>
              <a:rPr lang="zxx" sz="12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si en una partida disparo poco a la fila D, no digo que D sea más segura; solo que tengo pocos datos de esa fila.</a:t>
            </a:r>
            <a:br>
              <a:rPr sz="1200"/>
            </a:br>
            <a:br>
              <a:rPr sz="1200"/>
            </a:br>
            <a:r>
              <a:rPr lang="zxx" sz="12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Probar con muchas partidas:</a:t>
            </a:r>
            <a:r>
              <a:rPr lang="zxx" sz="12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me permitió comprobar que el juego se comporta como esperaba con entradas buenas y malas, y que siempre llega al final.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6"/>
          <p:cNvSpPr/>
          <p:nvPr/>
        </p:nvSpPr>
        <p:spPr>
          <a:xfrm>
            <a:off x="7325280" y="346680"/>
            <a:ext cx="31993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20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for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compañero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in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bootcamp():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print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"Gracias por escuchar la presentación"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):-)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Rounded Rectangle 4"/>
          <p:cNvSpPr/>
          <p:nvPr/>
        </p:nvSpPr>
        <p:spPr>
          <a:xfrm>
            <a:off x="8046720" y="1828800"/>
            <a:ext cx="3473640" cy="48312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Rectangle 5"/>
          <p:cNvSpPr/>
          <p:nvPr/>
        </p:nvSpPr>
        <p:spPr>
          <a:xfrm>
            <a:off x="8046720" y="1828800"/>
            <a:ext cx="72000" cy="48312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000" tIns="45000" rIns="36000" bIns="45000" anchor="ctr">
            <a:noAutofit/>
          </a:bodyPr>
          <a:p>
            <a:pPr/>
            <a:endParaRPr lang="zxx" sz="1800" b="0" u="none" strike="noStrike">
              <a:solidFill>
                <a:schemeClr val="accent6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8321040" y="2011680"/>
            <a:ext cx="319932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Lo que sigue… pensando en Data Science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7"/>
          <p:cNvSpPr/>
          <p:nvPr/>
        </p:nvSpPr>
        <p:spPr>
          <a:xfrm>
            <a:off x="8321040" y="2594880"/>
            <a:ext cx="3016440" cy="40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xx" sz="12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Juego actual:</a:t>
            </a:r>
            <a:r>
              <a:rPr lang="zxx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reglas programadas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La máquina elige una casilla aleatoria entre las que todavía no ha probado. No aprende de sus aciertos ni de sus errores.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200"/>
            </a:br>
            <a:r>
              <a:rPr lang="zxx" sz="12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Análisis de datos: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Registrar partidas, disparos, impactos, hundimientos y número de turnos. Comparar estrategias y estudiar cuáles consiguen mejores resultados.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Machine Learning: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Entrenar un modelo con partidas anteriores para estimar qué casillas tienen mayor probabilidad de contener barcos, utilizando la información disponible en cada momento.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Evaluación y mejora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Comparar el modelo con la estrategia aleatoria y comprobar si realmente necesita menos disparos para hundir la flota.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22 Imagen"/>
          <p:cNvPicPr/>
          <p:nvPr/>
        </p:nvPicPr>
        <p:blipFill>
          <a:blip r:embed="rId1"/>
          <a:stretch/>
        </p:blipFill>
        <p:spPr>
          <a:xfrm>
            <a:off x="10381320" y="0"/>
            <a:ext cx="1809720" cy="23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12 Imagen"/>
          <p:cNvSpPr/>
          <p:nvPr/>
        </p:nvSpPr>
        <p:spPr>
          <a:xfrm>
            <a:off x="11125440" y="5295600"/>
            <a:ext cx="1058400" cy="10584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</TotalTime>
  <Application>LibreOffice/26.8.1.1$Windows_X86_64 LibreOffice_project/bf6ef2662401c7d6dce671ab4deb26ee0af3a7c1</Application>
  <AppVersion>15.0000</AppVersion>
  <Words>681</Words>
  <Paragraphs>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2026-10-21T20:16:30Z</dcterms:modified>
  <cp:revision>46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Personalizado</vt:lpwstr>
  </property>
  <property fmtid="{D5CDD505-2E9C-101B-9397-08002B2CF9AE}" pid="4" name="Slides">
    <vt:i4>9</vt:i4>
  </property>
</Properties>
</file>